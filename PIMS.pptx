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81" r:id="rId11"/>
    <p:sldId id="264" r:id="rId12"/>
    <p:sldId id="268" r:id="rId13"/>
    <p:sldId id="269" r:id="rId14"/>
    <p:sldId id="271" r:id="rId15"/>
    <p:sldId id="272" r:id="rId16"/>
    <p:sldId id="273" r:id="rId17"/>
    <p:sldId id="274" r:id="rId18"/>
    <p:sldId id="275" r:id="rId19"/>
    <p:sldId id="276" r:id="rId20"/>
    <p:sldId id="277" r:id="rId21"/>
    <p:sldId id="278" r:id="rId22"/>
    <p:sldId id="279" r:id="rId23"/>
    <p:sldId id="266" r:id="rId24"/>
    <p:sldId id="284" r:id="rId25"/>
    <p:sldId id="283" r:id="rId26"/>
    <p:sldId id="267"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p:scale>
          <a:sx n="75" d="100"/>
          <a:sy n="75" d="100"/>
        </p:scale>
        <p:origin x="-1666" y="-37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5BCAD085-E8A6-8845-BD4E-CB4CCA059FC4}" type="datetimeFigureOut">
              <a:rPr lang="en-US" smtClean="0"/>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C1FF6DA9-008F-8B48-92A6-B652298478BF}" type="slidenum">
              <a:rPr lang="en-US" smtClean="0"/>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C1FF6DA9-008F-8B48-92A6-B652298478BF}" type="slidenum">
              <a:rPr lang="en-US" smtClean="0"/>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5BCAD085-E8A6-8845-BD4E-CB4CCA059FC4}" type="datetimeFigureOut">
              <a:rPr lang="en-US" smtClean="0"/>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C1FF6DA9-008F-8B48-92A6-B652298478BF}" type="slidenum">
              <a:rPr lang="en-US" smtClean="0"/>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5BCAD085-E8A6-8845-BD4E-CB4CCA059FC4}" type="datetimeFigureOut">
              <a:rPr lang="en-US" smtClean="0"/>
            </a:fld>
            <a:endParaRPr lang="en-US"/>
          </a:p>
        </p:txBody>
      </p:sp>
      <p:sp>
        <p:nvSpPr>
          <p:cNvPr id="10" name="Slide Number Placeholder 9"/>
          <p:cNvSpPr>
            <a:spLocks noGrp="1"/>
          </p:cNvSpPr>
          <p:nvPr>
            <p:ph type="sldNum" sz="quarter" idx="16"/>
          </p:nvPr>
        </p:nvSpPr>
        <p:spPr/>
        <p:txBody>
          <a:bodyPr rtlCol="0"/>
          <a:lstStyle/>
          <a:p>
            <a:fld id="{C1FF6DA9-008F-8B48-92A6-B652298478BF}" type="slidenum">
              <a:rPr lang="en-US" smtClean="0"/>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5BCAD085-E8A6-8845-BD4E-CB4CCA059FC4}" type="datetimeFigureOut">
              <a:rPr lang="en-US" smtClean="0"/>
            </a:fld>
            <a:endParaRPr lang="en-US"/>
          </a:p>
        </p:txBody>
      </p:sp>
      <p:sp>
        <p:nvSpPr>
          <p:cNvPr id="12" name="Slide Number Placeholder 11"/>
          <p:cNvSpPr>
            <a:spLocks noGrp="1"/>
          </p:cNvSpPr>
          <p:nvPr>
            <p:ph type="sldNum" sz="quarter" idx="16"/>
          </p:nvPr>
        </p:nvSpPr>
        <p:spPr/>
        <p:txBody>
          <a:bodyPr rtlCol="0"/>
          <a:lstStyle/>
          <a:p>
            <a:fld id="{C1FF6DA9-008F-8B48-92A6-B652298478BF}" type="slidenum">
              <a:rPr lang="en-US" smtClean="0"/>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endParaRPr kumimoji="0" lang="en-US" smtClean="0"/>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endParaRPr kumimoji="0" lang="en-US" smtClean="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C1FF6DA9-008F-8B48-92A6-B652298478BF}" type="slidenum">
              <a:rPr lang="en-US" smtClean="0"/>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endParaRPr kumimoji="0" lang="en-US" smtClean="0"/>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endParaRPr kumimoji="0" lang="en-US" smtClean="0"/>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5BCAD085-E8A6-8845-BD4E-CB4CCA059FC4}" type="datetimeFigureOut">
              <a:rPr lang="en-US" smtClean="0"/>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C1FF6DA9-008F-8B48-92A6-B652298478BF}" type="slidenum">
              <a:rPr lang="en-US" smtClean="0"/>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C1FF6DA9-008F-8B48-92A6-B652298478BF}"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5BCAD085-E8A6-8845-BD4E-CB4CCA059FC4}" type="datetimeFigureOut">
              <a:rPr lang="en-US" smtClean="0"/>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panose="05000000000000000000"/>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panose="05020102010507070707"/>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panose="05000000000000000000"/>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panose="05000000000000000000"/>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panose="05000000000000000000"/>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panose="05000000000000000000"/>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004695" y="1733550"/>
            <a:ext cx="6477000" cy="1828800"/>
          </a:xfrm>
        </p:spPr>
        <p:txBody>
          <a:bodyPr>
            <a:normAutofit/>
          </a:bodyPr>
          <a:lstStyle/>
          <a:p>
            <a:r>
              <a:rPr sz="3600" b="1" dirty="0">
                <a:solidFill>
                  <a:schemeClr val="bg1"/>
                </a:solidFill>
              </a:rPr>
              <a:t>Product Inventory Management System</a:t>
            </a:r>
            <a:endParaRPr sz="3600" b="1" dirty="0">
              <a:solidFill>
                <a:schemeClr val="bg1"/>
              </a:solidFill>
            </a:endParaRPr>
          </a:p>
        </p:txBody>
      </p:sp>
      <p:sp>
        <p:nvSpPr>
          <p:cNvPr id="3" name="TextBox 2"/>
          <p:cNvSpPr txBox="1"/>
          <p:nvPr/>
        </p:nvSpPr>
        <p:spPr>
          <a:xfrm>
            <a:off x="4560914" y="6214348"/>
            <a:ext cx="894797" cy="369332"/>
          </a:xfrm>
          <a:prstGeom prst="rect">
            <a:avLst/>
          </a:prstGeom>
          <a:noFill/>
        </p:spPr>
        <p:txBody>
          <a:bodyPr wrap="none" rtlCol="0">
            <a:spAutoFit/>
          </a:bodyPr>
          <a:lstStyle/>
          <a:p>
            <a:r>
              <a:rPr lang="en-US" dirty="0" smtClean="0">
                <a:solidFill>
                  <a:schemeClr val="bg1"/>
                </a:solidFill>
              </a:rPr>
              <a:t>TEAM 7</a:t>
            </a:r>
            <a:endParaRPr lang="en-IN" dirty="0">
              <a:solidFill>
                <a:schemeClr val="bg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800" b="1" dirty="0">
                <a:solidFill>
                  <a:schemeClr val="tx1"/>
                </a:solidFill>
              </a:rPr>
              <a:t>Group Members</a:t>
            </a:r>
            <a:endParaRPr sz="3800" b="1" dirty="0">
              <a:solidFill>
                <a:schemeClr val="tx1"/>
              </a:solidFill>
            </a:endParaRPr>
          </a:p>
        </p:txBody>
      </p:sp>
      <p:sp>
        <p:nvSpPr>
          <p:cNvPr id="3" name="Content Placeholder 2"/>
          <p:cNvSpPr>
            <a:spLocks noGrp="1"/>
          </p:cNvSpPr>
          <p:nvPr>
            <p:ph sz="quarter" idx="1"/>
          </p:nvPr>
        </p:nvSpPr>
        <p:spPr/>
        <p:txBody>
          <a:bodyPr/>
          <a:lstStyle/>
          <a:p>
            <a:pPr>
              <a:buFont typeface="Arial" panose="020B0604020202020204" pitchFamily="34" charset="0"/>
              <a:buChar char="•"/>
            </a:pPr>
            <a:r>
              <a:rPr dirty="0" err="1" smtClean="0"/>
              <a:t>Siddesh</a:t>
            </a:r>
            <a:endParaRPr dirty="0"/>
          </a:p>
          <a:p>
            <a:pPr>
              <a:buFont typeface="Arial" panose="020B0604020202020204" pitchFamily="34" charset="0"/>
              <a:buChar char="•"/>
            </a:pPr>
            <a:r>
              <a:rPr dirty="0" err="1" smtClean="0"/>
              <a:t>Iliyas</a:t>
            </a:r>
            <a:endParaRPr dirty="0" smtClean="0"/>
          </a:p>
          <a:p>
            <a:pPr>
              <a:buFont typeface="Arial" panose="020B0604020202020204" pitchFamily="34" charset="0"/>
              <a:buChar char="•"/>
            </a:pPr>
            <a:r>
              <a:rPr dirty="0" err="1" smtClean="0"/>
              <a:t>Darshan</a:t>
            </a:r>
            <a:endParaRPr dirty="0"/>
          </a:p>
          <a:p>
            <a:pPr>
              <a:buFont typeface="Arial" panose="020B0604020202020204" pitchFamily="34" charset="0"/>
              <a:buChar char="•"/>
            </a:pPr>
            <a:r>
              <a:rPr dirty="0" err="1" smtClean="0"/>
              <a:t>Barath</a:t>
            </a:r>
            <a:endParaRPr dirty="0"/>
          </a:p>
          <a:p>
            <a:pPr>
              <a:buFont typeface="Arial" panose="020B0604020202020204" pitchFamily="34" charset="0"/>
              <a:buChar char="•"/>
            </a:pPr>
            <a:r>
              <a:rPr dirty="0" smtClean="0"/>
              <a:t>Yuvan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b="1" dirty="0">
                <a:solidFill>
                  <a:schemeClr val="tx1"/>
                </a:solidFill>
              </a:rPr>
              <a:t>Table of Contents</a:t>
            </a:r>
            <a:endParaRPr sz="4000" b="1" dirty="0">
              <a:solidFill>
                <a:schemeClr val="tx1"/>
              </a:solidFill>
            </a:endParaRPr>
          </a:p>
        </p:txBody>
      </p:sp>
      <p:sp>
        <p:nvSpPr>
          <p:cNvPr id="3" name="Content Placeholder 2"/>
          <p:cNvSpPr>
            <a:spLocks noGrp="1"/>
          </p:cNvSpPr>
          <p:nvPr>
            <p:ph sz="quarter" idx="1"/>
          </p:nvPr>
        </p:nvSpPr>
        <p:spPr>
          <a:xfrm>
            <a:off x="457200" y="1417638"/>
            <a:ext cx="8229600" cy="4525963"/>
          </a:xfrm>
        </p:spPr>
        <p:txBody>
          <a:bodyPr>
            <a:noAutofit/>
          </a:bodyPr>
          <a:lstStyle/>
          <a:p>
            <a:r>
              <a:rPr sz="3000" dirty="0" smtClean="0"/>
              <a:t>Introduction</a:t>
            </a:r>
            <a:endParaRPr sz="3000" dirty="0"/>
          </a:p>
          <a:p>
            <a:r>
              <a:rPr sz="3000" dirty="0" smtClean="0"/>
              <a:t>Objective</a:t>
            </a:r>
            <a:endParaRPr sz="3000" dirty="0"/>
          </a:p>
          <a:p>
            <a:r>
              <a:rPr sz="3000" dirty="0" smtClean="0"/>
              <a:t>Key </a:t>
            </a:r>
            <a:r>
              <a:rPr sz="3000" dirty="0"/>
              <a:t>Features</a:t>
            </a:r>
            <a:endParaRPr sz="3000" dirty="0"/>
          </a:p>
          <a:p>
            <a:r>
              <a:rPr sz="3000" dirty="0" smtClean="0"/>
              <a:t>Technologies </a:t>
            </a:r>
            <a:r>
              <a:rPr sz="3000" dirty="0"/>
              <a:t>Used</a:t>
            </a:r>
            <a:endParaRPr sz="3000" dirty="0"/>
          </a:p>
          <a:p>
            <a:r>
              <a:rPr sz="3000" dirty="0" smtClean="0"/>
              <a:t>Components </a:t>
            </a:r>
            <a:r>
              <a:rPr sz="3000" dirty="0"/>
              <a:t>Details</a:t>
            </a:r>
            <a:endParaRPr sz="3000" dirty="0"/>
          </a:p>
          <a:p>
            <a:r>
              <a:rPr sz="3000" dirty="0" smtClean="0"/>
              <a:t>Work </a:t>
            </a:r>
            <a:r>
              <a:rPr sz="3000" dirty="0"/>
              <a:t>Flow</a:t>
            </a:r>
            <a:endParaRPr sz="3000" dirty="0"/>
          </a:p>
          <a:p>
            <a:r>
              <a:rPr sz="3000" dirty="0" smtClean="0"/>
              <a:t>ER </a:t>
            </a:r>
            <a:r>
              <a:rPr sz="3000" dirty="0"/>
              <a:t>Diagram</a:t>
            </a:r>
            <a:endParaRPr sz="3000" dirty="0"/>
          </a:p>
          <a:p>
            <a:r>
              <a:rPr sz="3000" dirty="0" smtClean="0"/>
              <a:t>Future </a:t>
            </a:r>
            <a:r>
              <a:rPr sz="3000" dirty="0"/>
              <a:t>Enhancements</a:t>
            </a:r>
            <a:endParaRPr sz="3000" dirty="0"/>
          </a:p>
          <a:p>
            <a:r>
              <a:rPr sz="3000" dirty="0" smtClean="0"/>
              <a:t>Thank </a:t>
            </a:r>
            <a:r>
              <a:rPr sz="3000" dirty="0"/>
              <a:t>You</a:t>
            </a:r>
            <a:endParaRPr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b="1" dirty="0">
                <a:solidFill>
                  <a:schemeClr val="tx1"/>
                </a:solidFill>
              </a:rPr>
              <a:t>Introduction</a:t>
            </a:r>
            <a:endParaRPr sz="4000" b="1" dirty="0">
              <a:solidFill>
                <a:schemeClr val="tx1"/>
              </a:solidFill>
            </a:endParaRPr>
          </a:p>
        </p:txBody>
      </p:sp>
      <p:sp>
        <p:nvSpPr>
          <p:cNvPr id="3" name="Content Placeholder 2"/>
          <p:cNvSpPr>
            <a:spLocks noGrp="1"/>
          </p:cNvSpPr>
          <p:nvPr>
            <p:ph sz="quarter" idx="1"/>
          </p:nvPr>
        </p:nvSpPr>
        <p:spPr>
          <a:xfrm>
            <a:off x="457200" y="1702117"/>
            <a:ext cx="8229600" cy="4525963"/>
          </a:xfrm>
        </p:spPr>
        <p:txBody>
          <a:bodyPr>
            <a:normAutofit/>
          </a:bodyPr>
          <a:lstStyle/>
          <a:p>
            <a:r>
              <a:rPr lang="en-US" dirty="0"/>
              <a:t>“Product Inventory Management System” is a Single Page Application (SPA) designed to enhance inventory management for businesses by simplifying the process of managing products and stock. This system enables businesses to efficiently add, update, delete, list, and search for product records. </a:t>
            </a:r>
            <a:endParaRPr lang="en-US" dirty="0"/>
          </a:p>
          <a:p>
            <a:r>
              <a:rPr lang="en-US" dirty="0">
                <a:sym typeface="+mn-ea"/>
              </a:rPr>
              <a:t>Users can also categorize products, update stock quantities, and view detailed product information such as descriptions, prices, and manufacturers</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b="1" dirty="0">
                <a:solidFill>
                  <a:schemeClr val="tx1"/>
                </a:solidFill>
              </a:rPr>
              <a:t>Objective</a:t>
            </a:r>
            <a:endParaRPr sz="4000" b="1" dirty="0">
              <a:solidFill>
                <a:schemeClr val="tx1"/>
              </a:solidFill>
            </a:endParaRPr>
          </a:p>
        </p:txBody>
      </p:sp>
      <p:sp>
        <p:nvSpPr>
          <p:cNvPr id="3" name="Content Placeholder 2"/>
          <p:cNvSpPr>
            <a:spLocks noGrp="1"/>
          </p:cNvSpPr>
          <p:nvPr>
            <p:ph sz="quarter" idx="1"/>
          </p:nvPr>
        </p:nvSpPr>
        <p:spPr>
          <a:xfrm>
            <a:off x="457200" y="1857375"/>
            <a:ext cx="8229600" cy="4525963"/>
          </a:xfrm>
        </p:spPr>
        <p:txBody>
          <a:bodyPr/>
          <a:lstStyle/>
          <a:p>
            <a:pPr>
              <a:buFont typeface="Arial" panose="020B0604020202020204" pitchFamily="34" charset="0"/>
              <a:buChar char="•"/>
            </a:pPr>
            <a:r>
              <a:rPr dirty="0" smtClean="0"/>
              <a:t>To </a:t>
            </a:r>
            <a:r>
              <a:rPr dirty="0"/>
              <a:t>provide a user-friendly inventory management system</a:t>
            </a:r>
            <a:endParaRPr dirty="0"/>
          </a:p>
          <a:p>
            <a:pPr>
              <a:buFont typeface="Arial" panose="020B0604020202020204" pitchFamily="34" charset="0"/>
              <a:buChar char="•"/>
            </a:pPr>
            <a:r>
              <a:rPr dirty="0" smtClean="0"/>
              <a:t>To </a:t>
            </a:r>
            <a:r>
              <a:rPr dirty="0"/>
              <a:t>manage product information</a:t>
            </a:r>
            <a:endParaRPr dirty="0"/>
          </a:p>
          <a:p>
            <a:pPr>
              <a:buFont typeface="Arial" panose="020B0604020202020204" pitchFamily="34" charset="0"/>
              <a:buChar char="•"/>
            </a:pPr>
            <a:r>
              <a:rPr dirty="0" smtClean="0"/>
              <a:t>To </a:t>
            </a:r>
            <a:r>
              <a:rPr dirty="0"/>
              <a:t>improve efficiency and reduce manual errors</a:t>
            </a:r>
            <a:endParaRPr dirty="0"/>
          </a:p>
          <a:p>
            <a:pPr>
              <a:buFont typeface="Arial" panose="020B0604020202020204" pitchFamily="34" charset="0"/>
              <a:buChar char="•"/>
            </a:pPr>
            <a:r>
              <a:rPr dirty="0" smtClean="0"/>
              <a:t>To </a:t>
            </a:r>
            <a:r>
              <a:rPr dirty="0"/>
              <a:t>enable seamless product transactions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b="1" dirty="0">
                <a:solidFill>
                  <a:schemeClr val="tx1"/>
                </a:solidFill>
              </a:rPr>
              <a:t>Key Features</a:t>
            </a:r>
            <a:endParaRPr sz="4000" b="1" dirty="0">
              <a:solidFill>
                <a:schemeClr val="tx1"/>
              </a:solidFill>
            </a:endParaRPr>
          </a:p>
        </p:txBody>
      </p:sp>
      <p:sp>
        <p:nvSpPr>
          <p:cNvPr id="3" name="Content Placeholder 2"/>
          <p:cNvSpPr>
            <a:spLocks noGrp="1"/>
          </p:cNvSpPr>
          <p:nvPr>
            <p:ph sz="quarter" idx="1"/>
          </p:nvPr>
        </p:nvSpPr>
        <p:spPr>
          <a:xfrm>
            <a:off x="457200" y="1809750"/>
            <a:ext cx="8229600" cy="4525963"/>
          </a:xfrm>
        </p:spPr>
        <p:txBody>
          <a:bodyPr/>
          <a:lstStyle/>
          <a:p>
            <a:pPr>
              <a:buFont typeface="Arial" panose="020B0604020202020204" pitchFamily="34" charset="0"/>
              <a:buChar char="•"/>
            </a:pPr>
            <a:r>
              <a:rPr dirty="0" smtClean="0"/>
              <a:t>Product </a:t>
            </a:r>
            <a:r>
              <a:rPr dirty="0"/>
              <a:t>Management (CRUD Operations)</a:t>
            </a:r>
            <a:endParaRPr dirty="0"/>
          </a:p>
          <a:p>
            <a:pPr>
              <a:buFont typeface="Arial" panose="020B0604020202020204" pitchFamily="34" charset="0"/>
              <a:buChar char="•"/>
            </a:pPr>
            <a:r>
              <a:rPr lang="en-GB" altLang="en-US" dirty="0"/>
              <a:t>S</a:t>
            </a:r>
            <a:r>
              <a:rPr lang="en-US" altLang="en-GB" dirty="0"/>
              <a:t>pring boot for the backend</a:t>
            </a:r>
            <a:endParaRPr lang="en-US" altLang="en-GB" dirty="0"/>
          </a:p>
          <a:p>
            <a:pPr>
              <a:buFont typeface="Arial" panose="020B0604020202020204" pitchFamily="34" charset="0"/>
              <a:buChar char="•"/>
            </a:pPr>
            <a:r>
              <a:rPr lang="en-US" altLang="en-GB" dirty="0"/>
              <a:t>JUnit Testing – Write test cases to verify backend services</a:t>
            </a:r>
            <a:endParaRPr lang="en-US" altLang="en-GB" dirty="0"/>
          </a:p>
          <a:p>
            <a:pPr>
              <a:buFont typeface="Arial" panose="020B0604020202020204" pitchFamily="34" charset="0"/>
              <a:buChar char="•"/>
            </a:pPr>
            <a:r>
              <a:rPr lang="en-US" altLang="en-GB" dirty="0"/>
              <a:t>Using REST API – Enable seamless communication between frontend and backend for efficient data exchange.</a:t>
            </a:r>
            <a:endParaRPr lang="en-US" altLang="en-GB" dirty="0"/>
          </a:p>
          <a:p>
            <a:pPr>
              <a:buFont typeface="Arial" panose="020B0604020202020204" pitchFamily="34" charset="0"/>
              <a:buChar char="•"/>
            </a:pPr>
            <a:r>
              <a:rPr dirty="0" smtClean="0"/>
              <a:t>Responsive </a:t>
            </a:r>
            <a:r>
              <a:rPr dirty="0"/>
              <a:t>UI with</a:t>
            </a:r>
            <a:r>
              <a:rPr lang="en-US" dirty="0"/>
              <a:t> HTML and CSS </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b="1" dirty="0" smtClean="0">
                <a:solidFill>
                  <a:schemeClr val="tx1"/>
                </a:solidFill>
              </a:rPr>
              <a:t>Technolog</a:t>
            </a:r>
            <a:r>
              <a:rPr lang="en-US" sz="4000" b="1" dirty="0" smtClean="0">
                <a:solidFill>
                  <a:schemeClr val="tx1"/>
                </a:solidFill>
              </a:rPr>
              <a:t>y Stack</a:t>
            </a:r>
            <a:endParaRPr sz="4000" b="1" dirty="0">
              <a:solidFill>
                <a:schemeClr val="tx1"/>
              </a:solidFill>
            </a:endParaRPr>
          </a:p>
        </p:txBody>
      </p:sp>
      <p:sp>
        <p:nvSpPr>
          <p:cNvPr id="3" name="Content Placeholder 2"/>
          <p:cNvSpPr>
            <a:spLocks noGrp="1"/>
          </p:cNvSpPr>
          <p:nvPr>
            <p:ph sz="quarter" idx="1"/>
          </p:nvPr>
        </p:nvSpPr>
        <p:spPr>
          <a:xfrm>
            <a:off x="457200" y="1650365"/>
            <a:ext cx="8229600" cy="4525963"/>
          </a:xfrm>
        </p:spPr>
        <p:txBody>
          <a:bodyPr>
            <a:normAutofit fontScale="85000" lnSpcReduction="20000"/>
          </a:bodyPr>
          <a:lstStyle/>
          <a:p>
            <a:r>
              <a:rPr lang="en-IN" b="1" dirty="0"/>
              <a:t>Front End:</a:t>
            </a:r>
            <a:endParaRPr lang="en-IN" dirty="0"/>
          </a:p>
          <a:p>
            <a:pPr lvl="1"/>
            <a:r>
              <a:rPr lang="en-IN" b="1" dirty="0"/>
              <a:t>Angular:</a:t>
            </a:r>
            <a:r>
              <a:rPr lang="en-IN" dirty="0"/>
              <a:t> A </a:t>
            </a:r>
            <a:r>
              <a:rPr lang="en-IN" dirty="0" err="1"/>
              <a:t>TypeScript</a:t>
            </a:r>
            <a:r>
              <a:rPr lang="en-IN" dirty="0"/>
              <a:t>-based framework for building SPAs.</a:t>
            </a:r>
            <a:endParaRPr lang="en-IN" dirty="0"/>
          </a:p>
          <a:p>
            <a:pPr lvl="1"/>
            <a:r>
              <a:rPr lang="en-IN" b="1" dirty="0"/>
              <a:t>HTML/CSS:</a:t>
            </a:r>
            <a:r>
              <a:rPr lang="en-IN" dirty="0"/>
              <a:t> For structuring and styling the UI.</a:t>
            </a:r>
            <a:endParaRPr lang="en-IN" dirty="0"/>
          </a:p>
          <a:p>
            <a:r>
              <a:rPr lang="en-IN" b="1" dirty="0" smtClean="0"/>
              <a:t>Back End:</a:t>
            </a:r>
            <a:endParaRPr lang="en-IN" dirty="0" smtClean="0"/>
          </a:p>
          <a:p>
            <a:pPr lvl="1"/>
            <a:r>
              <a:rPr lang="en-IN" b="1" dirty="0" smtClean="0"/>
              <a:t>Spring </a:t>
            </a:r>
            <a:r>
              <a:rPr lang="en-IN" b="1" dirty="0"/>
              <a:t>Boot:</a:t>
            </a:r>
            <a:r>
              <a:rPr lang="en-IN" dirty="0"/>
              <a:t> A Java-based framework for building </a:t>
            </a:r>
            <a:r>
              <a:rPr lang="en-IN" dirty="0" err="1"/>
              <a:t>RESTful</a:t>
            </a:r>
            <a:r>
              <a:rPr lang="en-IN" dirty="0"/>
              <a:t> APIs.</a:t>
            </a:r>
            <a:endParaRPr lang="en-IN" dirty="0"/>
          </a:p>
          <a:p>
            <a:pPr lvl="1"/>
            <a:r>
              <a:rPr lang="en-IN" b="1" dirty="0"/>
              <a:t>Spring Data JPA:</a:t>
            </a:r>
            <a:r>
              <a:rPr lang="en-IN" dirty="0"/>
              <a:t> For database interactions.</a:t>
            </a:r>
            <a:endParaRPr lang="en-IN" dirty="0"/>
          </a:p>
          <a:p>
            <a:pPr lvl="1"/>
            <a:r>
              <a:rPr lang="en-IN" b="1" dirty="0"/>
              <a:t>Spring Security:</a:t>
            </a:r>
            <a:r>
              <a:rPr lang="en-IN" dirty="0"/>
              <a:t> For user authentication and authorization.</a:t>
            </a:r>
            <a:endParaRPr lang="en-IN" dirty="0"/>
          </a:p>
          <a:p>
            <a:pPr lvl="1"/>
            <a:r>
              <a:rPr lang="en-IN" b="1" dirty="0" smtClean="0"/>
              <a:t>MySQL:</a:t>
            </a:r>
            <a:r>
              <a:rPr lang="en-IN" dirty="0"/>
              <a:t> For database storage (or H2 for development).</a:t>
            </a:r>
            <a:endParaRPr lang="en-IN" dirty="0"/>
          </a:p>
          <a:p>
            <a:r>
              <a:rPr lang="en-IN" b="1" dirty="0"/>
              <a:t>Tools:</a:t>
            </a:r>
            <a:endParaRPr lang="en-IN" dirty="0"/>
          </a:p>
          <a:p>
            <a:pPr lvl="1"/>
            <a:r>
              <a:rPr lang="en-IN" b="1" dirty="0"/>
              <a:t>Visual Studio Code:</a:t>
            </a:r>
            <a:r>
              <a:rPr lang="en-IN" dirty="0"/>
              <a:t> For Angular development.</a:t>
            </a:r>
            <a:endParaRPr lang="en-IN" dirty="0"/>
          </a:p>
          <a:p>
            <a:pPr lvl="1"/>
            <a:r>
              <a:rPr lang="en-IN" b="1" dirty="0" smtClean="0"/>
              <a:t>STS:</a:t>
            </a:r>
            <a:r>
              <a:rPr lang="en-IN" dirty="0"/>
              <a:t> For Spring Boot development.</a:t>
            </a:r>
            <a:endParaRPr lang="en-IN" dirty="0"/>
          </a:p>
          <a:p>
            <a:pPr lvl="1"/>
            <a:r>
              <a:rPr lang="en-IN" b="1" dirty="0"/>
              <a:t>Postman:</a:t>
            </a:r>
            <a:r>
              <a:rPr lang="en-IN" dirty="0"/>
              <a:t> For API testing.</a:t>
            </a:r>
            <a:endParaRPr lang="en-IN" dirty="0"/>
          </a:p>
          <a:p>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b="1" dirty="0" smtClean="0">
                <a:solidFill>
                  <a:schemeClr val="tx1"/>
                </a:solidFill>
              </a:rPr>
              <a:t>Components </a:t>
            </a:r>
            <a:r>
              <a:rPr sz="4000" b="1" dirty="0">
                <a:solidFill>
                  <a:schemeClr val="tx1"/>
                </a:solidFill>
              </a:rPr>
              <a:t>Details</a:t>
            </a:r>
            <a:endParaRPr sz="4000" b="1" dirty="0">
              <a:solidFill>
                <a:schemeClr val="tx1"/>
              </a:solidFill>
            </a:endParaRPr>
          </a:p>
        </p:txBody>
      </p:sp>
      <p:sp>
        <p:nvSpPr>
          <p:cNvPr id="3" name="Content Placeholder 2"/>
          <p:cNvSpPr>
            <a:spLocks noGrp="1"/>
          </p:cNvSpPr>
          <p:nvPr>
            <p:ph sz="quarter" idx="1"/>
          </p:nvPr>
        </p:nvSpPr>
        <p:spPr>
          <a:xfrm>
            <a:off x="457200" y="1743075"/>
            <a:ext cx="8229600" cy="4525963"/>
          </a:xfrm>
        </p:spPr>
        <p:txBody>
          <a:bodyPr>
            <a:normAutofit fontScale="70000" lnSpcReduction="20000"/>
          </a:bodyPr>
          <a:lstStyle/>
          <a:p>
            <a:pPr marL="0" indent="0">
              <a:buNone/>
            </a:pPr>
            <a:r>
              <a:rPr b="1" dirty="0" err="1" smtClean="0"/>
              <a:t>Frontend:</a:t>
            </a:r>
            <a:r>
              <a:rPr lang="en-US" b="1" dirty="0" err="1" smtClean="0"/>
              <a:t>Angular</a:t>
            </a:r>
            <a:endParaRPr lang="en-US" b="1" dirty="0" smtClean="0"/>
          </a:p>
          <a:p>
            <a:r>
              <a:rPr dirty="0" smtClean="0"/>
              <a:t>  </a:t>
            </a:r>
            <a:r>
              <a:rPr lang="en-IN" b="1" dirty="0"/>
              <a:t>Components</a:t>
            </a:r>
            <a:r>
              <a:rPr lang="en-IN" b="1" dirty="0" smtClean="0"/>
              <a:t>:</a:t>
            </a:r>
            <a:endParaRPr lang="en-IN" b="1" dirty="0" smtClean="0"/>
          </a:p>
          <a:p>
            <a:pPr lvl="1"/>
            <a:r>
              <a:rPr lang="en-IN" dirty="0" err="1"/>
              <a:t>LoginComponent</a:t>
            </a:r>
            <a:r>
              <a:rPr lang="en-IN" dirty="0"/>
              <a:t>: Handles user login.</a:t>
            </a:r>
            <a:endParaRPr lang="en-IN" dirty="0"/>
          </a:p>
          <a:p>
            <a:pPr lvl="1"/>
            <a:r>
              <a:rPr lang="en-IN" dirty="0" err="1"/>
              <a:t>RegisterComponent</a:t>
            </a:r>
            <a:r>
              <a:rPr lang="en-IN" dirty="0"/>
              <a:t>: Handles user registration</a:t>
            </a:r>
            <a:r>
              <a:rPr lang="en-IN" dirty="0" smtClean="0"/>
              <a:t>.</a:t>
            </a:r>
            <a:endParaRPr lang="en-IN" dirty="0"/>
          </a:p>
          <a:p>
            <a:pPr lvl="1"/>
            <a:r>
              <a:rPr lang="en-IN" dirty="0" err="1"/>
              <a:t>ProductListComponent</a:t>
            </a:r>
            <a:r>
              <a:rPr lang="en-IN" dirty="0"/>
              <a:t>: Displays the list of products.</a:t>
            </a:r>
            <a:endParaRPr lang="en-IN" dirty="0"/>
          </a:p>
          <a:p>
            <a:pPr lvl="1"/>
            <a:r>
              <a:rPr lang="en-IN" dirty="0" err="1"/>
              <a:t>AddProductComponent</a:t>
            </a:r>
            <a:r>
              <a:rPr lang="en-IN" dirty="0"/>
              <a:t>: Form for adding new products.</a:t>
            </a:r>
            <a:endParaRPr lang="en-IN" dirty="0"/>
          </a:p>
          <a:p>
            <a:pPr lvl="1"/>
            <a:r>
              <a:rPr lang="en-IN" dirty="0" err="1"/>
              <a:t>EditProductComponent</a:t>
            </a:r>
            <a:r>
              <a:rPr lang="en-IN" dirty="0"/>
              <a:t>: Form for editing existing products</a:t>
            </a:r>
            <a:r>
              <a:rPr lang="en-IN" dirty="0" smtClean="0"/>
              <a:t>.</a:t>
            </a:r>
            <a:endParaRPr lang="en-IN" dirty="0" smtClean="0"/>
          </a:p>
          <a:p>
            <a:pPr lvl="1"/>
            <a:r>
              <a:rPr lang="en-IN" dirty="0" err="1" smtClean="0"/>
              <a:t>ViewProductComponent</a:t>
            </a:r>
            <a:r>
              <a:rPr lang="en-IN" dirty="0" smtClean="0"/>
              <a:t>:</a:t>
            </a:r>
            <a:r>
              <a:rPr lang="en-IN" dirty="0"/>
              <a:t> Form </a:t>
            </a:r>
            <a:r>
              <a:rPr lang="en-IN" dirty="0" smtClean="0"/>
              <a:t>for viewing edited products</a:t>
            </a:r>
            <a:endParaRPr lang="en-IN" dirty="0"/>
          </a:p>
          <a:p>
            <a:r>
              <a:rPr lang="en-IN" b="1" dirty="0" smtClean="0"/>
              <a:t>Services</a:t>
            </a:r>
            <a:r>
              <a:rPr lang="en-IN" b="1" dirty="0"/>
              <a:t>:</a:t>
            </a:r>
            <a:endParaRPr lang="en-IN" dirty="0"/>
          </a:p>
          <a:p>
            <a:pPr lvl="1"/>
            <a:r>
              <a:rPr lang="en-IN" dirty="0" err="1"/>
              <a:t>ProductService</a:t>
            </a:r>
            <a:r>
              <a:rPr lang="en-IN" dirty="0"/>
              <a:t>: Handles HTTP requests for product-related operations.</a:t>
            </a:r>
            <a:endParaRPr lang="en-IN" dirty="0"/>
          </a:p>
          <a:p>
            <a:pPr lvl="1"/>
            <a:r>
              <a:rPr lang="en-IN" dirty="0" err="1"/>
              <a:t>AuthService</a:t>
            </a:r>
            <a:r>
              <a:rPr lang="en-IN" dirty="0"/>
              <a:t>: Handles user authentication (login/registration).</a:t>
            </a:r>
            <a:endParaRPr lang="en-IN" dirty="0"/>
          </a:p>
          <a:p>
            <a:r>
              <a:rPr lang="en-IN" b="1" dirty="0"/>
              <a:t>Routing:</a:t>
            </a:r>
            <a:endParaRPr lang="en-IN" dirty="0"/>
          </a:p>
          <a:p>
            <a:pPr lvl="1"/>
            <a:r>
              <a:rPr lang="en-IN" dirty="0" err="1"/>
              <a:t>Angular's</a:t>
            </a:r>
            <a:r>
              <a:rPr lang="en-IN" dirty="0"/>
              <a:t> </a:t>
            </a:r>
            <a:r>
              <a:rPr lang="en-IN" dirty="0" err="1"/>
              <a:t>RouterModule</a:t>
            </a:r>
            <a:r>
              <a:rPr lang="en-IN" dirty="0"/>
              <a:t> is used for navigation between pages (e.g., /products, /add-product, /login).</a:t>
            </a:r>
            <a:endParaRPr lang="en-IN" dirty="0"/>
          </a:p>
          <a:p>
            <a:pPr marL="0" indent="0">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b="1" dirty="0" smtClean="0">
                <a:solidFill>
                  <a:schemeClr val="tx1"/>
                </a:solidFill>
              </a:rPr>
              <a:t>Components </a:t>
            </a:r>
            <a:r>
              <a:rPr sz="4000" b="1" dirty="0">
                <a:solidFill>
                  <a:schemeClr val="tx1"/>
                </a:solidFill>
              </a:rPr>
              <a:t>Details</a:t>
            </a:r>
            <a:endParaRPr sz="4000" b="1" dirty="0">
              <a:solidFill>
                <a:schemeClr val="tx1"/>
              </a:solidFill>
            </a:endParaRPr>
          </a:p>
        </p:txBody>
      </p:sp>
      <p:sp>
        <p:nvSpPr>
          <p:cNvPr id="3" name="Content Placeholder 2"/>
          <p:cNvSpPr>
            <a:spLocks noGrp="1"/>
          </p:cNvSpPr>
          <p:nvPr>
            <p:ph sz="quarter" idx="1"/>
          </p:nvPr>
        </p:nvSpPr>
        <p:spPr>
          <a:xfrm>
            <a:off x="457200" y="1743075"/>
            <a:ext cx="8229600" cy="4525963"/>
          </a:xfrm>
        </p:spPr>
        <p:txBody>
          <a:bodyPr>
            <a:normAutofit/>
          </a:bodyPr>
          <a:lstStyle/>
          <a:p>
            <a:pPr marL="0" indent="0">
              <a:buNone/>
            </a:pPr>
            <a:r>
              <a:rPr lang="en-IN" b="1" dirty="0"/>
              <a:t>Backend - Spring </a:t>
            </a:r>
            <a:r>
              <a:rPr lang="en-IN" b="1" dirty="0" smtClean="0"/>
              <a:t>Boot(monolithic)</a:t>
            </a:r>
            <a:endParaRPr lang="en-IN" b="1" dirty="0" smtClean="0"/>
          </a:p>
          <a:p>
            <a:r>
              <a:rPr lang="en-US" dirty="0"/>
              <a:t>The backend is designed as a </a:t>
            </a:r>
            <a:r>
              <a:rPr lang="en-US" b="1" dirty="0"/>
              <a:t>monolithic application</a:t>
            </a:r>
            <a:r>
              <a:rPr lang="en-US" dirty="0"/>
              <a:t> with modular services:</a:t>
            </a:r>
            <a:endParaRPr lang="en-US" dirty="0"/>
          </a:p>
          <a:p>
            <a:pPr lvl="1"/>
            <a:r>
              <a:rPr lang="en-US" b="1" dirty="0"/>
              <a:t>User Service:</a:t>
            </a:r>
            <a:r>
              <a:rPr lang="en-US" dirty="0"/>
              <a:t> Handles user authentication and management.</a:t>
            </a:r>
            <a:endParaRPr lang="en-US" dirty="0"/>
          </a:p>
          <a:p>
            <a:pPr lvl="1"/>
            <a:r>
              <a:rPr lang="en-US" b="1" dirty="0"/>
              <a:t>Product Service:</a:t>
            </a:r>
            <a:r>
              <a:rPr lang="en-US" dirty="0"/>
              <a:t> Handles product management (add, update, delete, view).</a:t>
            </a:r>
            <a:endParaRPr lang="en-US" dirty="0"/>
          </a:p>
          <a:p>
            <a:r>
              <a:rPr lang="en-IN" sz="2800" dirty="0" err="1" smtClean="0"/>
              <a:t>RESTful</a:t>
            </a:r>
            <a:r>
              <a:rPr lang="en-IN" sz="2800" dirty="0" smtClean="0"/>
              <a:t> APIs</a:t>
            </a:r>
            <a:endParaRPr lang="en-IN" sz="2800" dirty="0" smtClean="0"/>
          </a:p>
          <a:p>
            <a:r>
              <a:rPr lang="en-IN" sz="2800" dirty="0"/>
              <a:t>Spring Data </a:t>
            </a:r>
            <a:r>
              <a:rPr lang="en-IN" sz="2800" dirty="0" smtClean="0"/>
              <a:t>JPA</a:t>
            </a:r>
            <a:endParaRPr lang="en-IN" sz="2800" dirty="0"/>
          </a:p>
          <a:p>
            <a:pPr marL="0" indent="0">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b="1" dirty="0">
                <a:solidFill>
                  <a:schemeClr val="tx1"/>
                </a:solidFill>
              </a:rPr>
              <a:t>Work Flow</a:t>
            </a:r>
            <a:r>
              <a:rPr lang="en-GB" sz="4000" b="1" dirty="0">
                <a:solidFill>
                  <a:schemeClr val="tx1"/>
                </a:solidFill>
              </a:rPr>
              <a:t>-STAGE 1</a:t>
            </a:r>
            <a:endParaRPr lang="en-GB" sz="4000" dirty="0">
              <a:solidFill>
                <a:schemeClr val="tx1"/>
              </a:solidFill>
            </a:endParaRPr>
          </a:p>
        </p:txBody>
      </p:sp>
      <p:sp>
        <p:nvSpPr>
          <p:cNvPr id="3" name="Content Placeholder 2"/>
          <p:cNvSpPr>
            <a:spLocks noGrp="1"/>
          </p:cNvSpPr>
          <p:nvPr>
            <p:ph sz="quarter" idx="1"/>
          </p:nvPr>
        </p:nvSpPr>
        <p:spPr>
          <a:xfrm>
            <a:off x="500888" y="1590040"/>
            <a:ext cx="8153400" cy="4495800"/>
          </a:xfrm>
        </p:spPr>
        <p:txBody>
          <a:bodyPr>
            <a:noAutofit/>
          </a:bodyPr>
          <a:lstStyle/>
          <a:p>
            <a:r>
              <a:rPr lang="en-US" altLang="en-GB" sz="1800" dirty="0"/>
              <a:t>1. </a:t>
            </a:r>
            <a:r>
              <a:rPr lang="en-US" altLang="en-GB" sz="2800" dirty="0"/>
              <a:t>User Registration &amp; </a:t>
            </a:r>
            <a:r>
              <a:rPr lang="en-US" altLang="en-GB" sz="2800" dirty="0" smtClean="0"/>
              <a:t>Authentication</a:t>
            </a:r>
            <a:endParaRPr lang="en-US" altLang="en-GB" sz="2800" dirty="0" smtClean="0"/>
          </a:p>
          <a:p>
            <a:endParaRPr lang="en-US" altLang="en-GB" sz="1800" dirty="0"/>
          </a:p>
          <a:p>
            <a:r>
              <a:rPr lang="en-US" altLang="en-GB" sz="2400" dirty="0" smtClean="0"/>
              <a:t>User </a:t>
            </a:r>
            <a:r>
              <a:rPr lang="en-US" altLang="en-GB" sz="2400" dirty="0"/>
              <a:t>visits Welcome </a:t>
            </a:r>
            <a:r>
              <a:rPr lang="en-US" altLang="en-GB" sz="2400" dirty="0" smtClean="0"/>
              <a:t>Page</a:t>
            </a:r>
            <a:endParaRPr lang="en-US" altLang="en-GB" sz="2400" dirty="0"/>
          </a:p>
          <a:p>
            <a:r>
              <a:rPr lang="en-US" altLang="en-GB" sz="2400" dirty="0"/>
              <a:t>Choose Sign In or </a:t>
            </a:r>
            <a:r>
              <a:rPr lang="en-US" altLang="en-GB" sz="2400" dirty="0" smtClean="0"/>
              <a:t>Register</a:t>
            </a:r>
            <a:endParaRPr lang="en-US" altLang="en-GB" sz="2400" dirty="0"/>
          </a:p>
          <a:p>
            <a:r>
              <a:rPr lang="en-US" altLang="en-GB" sz="2400" dirty="0"/>
              <a:t>New User </a:t>
            </a:r>
            <a:r>
              <a:rPr lang="en-US" altLang="en-US" sz="2400" dirty="0"/>
              <a:t>→</a:t>
            </a:r>
            <a:r>
              <a:rPr lang="en-US" altLang="en-GB" sz="2400" dirty="0"/>
              <a:t> Register &amp; Submit </a:t>
            </a:r>
            <a:r>
              <a:rPr lang="en-US" altLang="en-GB" sz="2400" dirty="0" smtClean="0"/>
              <a:t>Details</a:t>
            </a:r>
            <a:endParaRPr lang="en-US" altLang="en-GB" sz="2400" dirty="0"/>
          </a:p>
          <a:p>
            <a:r>
              <a:rPr lang="en-US" altLang="en-GB" sz="2400" dirty="0"/>
              <a:t>Existing User </a:t>
            </a:r>
            <a:r>
              <a:rPr lang="en-US" altLang="en-US" sz="2400" dirty="0"/>
              <a:t>→</a:t>
            </a:r>
            <a:r>
              <a:rPr lang="en-US" altLang="en-GB" sz="2400" dirty="0"/>
              <a:t> Sign In &amp; Validate </a:t>
            </a:r>
            <a:r>
              <a:rPr lang="en-US" altLang="en-GB" sz="2400" dirty="0" smtClean="0"/>
              <a:t>Credentials</a:t>
            </a:r>
            <a:endParaRPr lang="en-US" altLang="en-GB" sz="2400" dirty="0"/>
          </a:p>
          <a:p>
            <a:r>
              <a:rPr lang="en-US" altLang="en-GB" sz="2400" dirty="0"/>
              <a:t>If authentication fails </a:t>
            </a:r>
            <a:r>
              <a:rPr lang="en-US" altLang="en-US" sz="2400" dirty="0"/>
              <a:t>→</a:t>
            </a:r>
            <a:r>
              <a:rPr lang="en-US" altLang="en-GB" sz="2400" dirty="0"/>
              <a:t> Show error &amp; </a:t>
            </a:r>
            <a:r>
              <a:rPr lang="en-US" altLang="en-GB" sz="2400" dirty="0" smtClean="0"/>
              <a:t>retry</a:t>
            </a:r>
            <a:endParaRPr lang="en-US" altLang="en-GB" sz="2400" dirty="0" smtClean="0"/>
          </a:p>
          <a:p>
            <a:r>
              <a:rPr lang="en-US" altLang="en-GB" sz="2400" dirty="0"/>
              <a:t>If successful </a:t>
            </a:r>
            <a:r>
              <a:rPr lang="en-US" altLang="en-US" sz="2400" dirty="0"/>
              <a:t>→</a:t>
            </a:r>
            <a:r>
              <a:rPr lang="en-US" altLang="en-GB" sz="2400" dirty="0"/>
              <a:t> Redirect to Product Dashboard</a:t>
            </a:r>
            <a:endParaRPr lang="en-US" altLang="en-GB" sz="2400" dirty="0"/>
          </a:p>
          <a:p>
            <a:endParaRPr lang="en-US" altLang="en-GB"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sz="4000" b="1" dirty="0">
                <a:solidFill>
                  <a:schemeClr val="tx1"/>
                </a:solidFill>
              </a:rPr>
              <a:t>Work Flow - STAGE 2</a:t>
            </a:r>
            <a:endParaRPr lang="en-GB" altLang="en-US" sz="4000" dirty="0">
              <a:solidFill>
                <a:schemeClr val="tx1"/>
              </a:solidFill>
            </a:endParaRPr>
          </a:p>
        </p:txBody>
      </p:sp>
      <p:sp>
        <p:nvSpPr>
          <p:cNvPr id="3" name="Content Placeholder 2"/>
          <p:cNvSpPr>
            <a:spLocks noGrp="1"/>
          </p:cNvSpPr>
          <p:nvPr>
            <p:ph sz="quarter" idx="1"/>
          </p:nvPr>
        </p:nvSpPr>
        <p:spPr/>
        <p:txBody>
          <a:bodyPr>
            <a:noAutofit/>
          </a:bodyPr>
          <a:lstStyle/>
          <a:p>
            <a:r>
              <a:rPr lang="en-US" altLang="en-GB" sz="1900" dirty="0"/>
              <a:t>2. </a:t>
            </a:r>
            <a:r>
              <a:rPr lang="en-US" altLang="en-GB" sz="2800" dirty="0"/>
              <a:t>Product Management</a:t>
            </a:r>
            <a:endParaRPr lang="en-US" altLang="en-GB" sz="2800" dirty="0"/>
          </a:p>
          <a:p>
            <a:endParaRPr lang="en-US" altLang="en-GB" sz="1900" dirty="0"/>
          </a:p>
          <a:p>
            <a:r>
              <a:rPr lang="en-US" altLang="en-GB" sz="2400" dirty="0"/>
              <a:t>Dashboard displays product </a:t>
            </a:r>
            <a:r>
              <a:rPr lang="en-US" altLang="en-GB" sz="2400" dirty="0" smtClean="0"/>
              <a:t>list</a:t>
            </a:r>
            <a:endParaRPr lang="en-US" altLang="en-GB" sz="2400" dirty="0"/>
          </a:p>
          <a:p>
            <a:r>
              <a:rPr lang="en-US" altLang="en-GB" sz="2400" dirty="0"/>
              <a:t>User actions: View, Edit, Delete, Add </a:t>
            </a:r>
            <a:r>
              <a:rPr lang="en-US" altLang="en-GB" sz="2400" dirty="0" smtClean="0"/>
              <a:t>Product</a:t>
            </a:r>
            <a:endParaRPr lang="en-US" altLang="en-GB" sz="2400" dirty="0"/>
          </a:p>
          <a:p>
            <a:r>
              <a:rPr lang="en-US" altLang="en-GB" sz="2400" dirty="0"/>
              <a:t>View </a:t>
            </a:r>
            <a:r>
              <a:rPr lang="en-US" altLang="en-US" sz="2400" dirty="0"/>
              <a:t>→</a:t>
            </a:r>
            <a:r>
              <a:rPr lang="en-US" altLang="en-GB" sz="2400" dirty="0"/>
              <a:t> Show product </a:t>
            </a:r>
            <a:r>
              <a:rPr lang="en-US" altLang="en-GB" sz="2400" dirty="0" smtClean="0"/>
              <a:t>details</a:t>
            </a:r>
            <a:endParaRPr lang="en-US" altLang="en-GB" sz="2400" dirty="0"/>
          </a:p>
          <a:p>
            <a:r>
              <a:rPr lang="en-US" altLang="en-GB" sz="2400" dirty="0"/>
              <a:t>Edit </a:t>
            </a:r>
            <a:r>
              <a:rPr lang="en-US" altLang="en-US" sz="2400" dirty="0"/>
              <a:t>→</a:t>
            </a:r>
            <a:r>
              <a:rPr lang="en-US" altLang="en-GB" sz="2400" dirty="0"/>
              <a:t> Modify details &amp; save </a:t>
            </a:r>
            <a:r>
              <a:rPr lang="en-US" altLang="en-GB" sz="2400" dirty="0" smtClean="0"/>
              <a:t>changes</a:t>
            </a:r>
            <a:endParaRPr lang="en-US" altLang="en-GB" sz="2400" dirty="0"/>
          </a:p>
          <a:p>
            <a:r>
              <a:rPr lang="en-US" altLang="en-GB" sz="2400" dirty="0"/>
              <a:t>Delete </a:t>
            </a:r>
            <a:r>
              <a:rPr lang="en-US" altLang="en-US" sz="2400" dirty="0"/>
              <a:t>→</a:t>
            </a:r>
            <a:r>
              <a:rPr lang="en-US" altLang="en-GB" sz="2400" dirty="0"/>
              <a:t> Confirm &amp; remove </a:t>
            </a:r>
            <a:r>
              <a:rPr lang="en-US" altLang="en-GB" sz="2400" dirty="0" smtClean="0"/>
              <a:t>product</a:t>
            </a:r>
            <a:endParaRPr lang="en-US" altLang="en-GB" sz="1900" dirty="0"/>
          </a:p>
          <a:p>
            <a:r>
              <a:rPr lang="en-US" altLang="en-GB" sz="2400" dirty="0"/>
              <a:t>Add </a:t>
            </a:r>
            <a:r>
              <a:rPr lang="en-US" altLang="en-US" sz="2400" dirty="0"/>
              <a:t>→</a:t>
            </a:r>
            <a:r>
              <a:rPr lang="en-US" altLang="en-GB" sz="2400" dirty="0"/>
              <a:t> Enter details &amp; save product</a:t>
            </a:r>
            <a:endParaRPr lang="en-US" altLang="en-GB"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sz="4000" b="1" dirty="0">
                <a:solidFill>
                  <a:schemeClr val="tx1"/>
                </a:solidFill>
              </a:rPr>
              <a:t>Work Flow - STAGE 3</a:t>
            </a:r>
            <a:endParaRPr lang="en-GB" altLang="en-US" sz="4000" dirty="0">
              <a:solidFill>
                <a:schemeClr val="tx1"/>
              </a:solidFill>
            </a:endParaRPr>
          </a:p>
        </p:txBody>
      </p:sp>
      <p:sp>
        <p:nvSpPr>
          <p:cNvPr id="3" name="Content Placeholder 2"/>
          <p:cNvSpPr>
            <a:spLocks noGrp="1"/>
          </p:cNvSpPr>
          <p:nvPr>
            <p:ph sz="quarter" idx="1"/>
          </p:nvPr>
        </p:nvSpPr>
        <p:spPr/>
        <p:txBody>
          <a:bodyPr>
            <a:noAutofit/>
          </a:bodyPr>
          <a:lstStyle/>
          <a:p>
            <a:r>
              <a:rPr lang="en-US" altLang="en-GB" sz="2400" dirty="0"/>
              <a:t>Adding product information and storing it in the list of products</a:t>
            </a:r>
            <a:endParaRPr lang="en-US" altLang="en-GB" sz="2400" dirty="0"/>
          </a:p>
          <a:p>
            <a:r>
              <a:rPr lang="en-GB" altLang="en-US" sz="2400" dirty="0"/>
              <a:t>Logout &amp; Session Handling</a:t>
            </a:r>
            <a:endParaRPr lang="en-US" altLang="en-GB" sz="2400" dirty="0"/>
          </a:p>
          <a:p>
            <a:r>
              <a:rPr lang="en-US" altLang="en-GB" sz="2400" dirty="0"/>
              <a:t>User selects </a:t>
            </a:r>
            <a:r>
              <a:rPr lang="en-US" altLang="en-GB" sz="2400" dirty="0" smtClean="0"/>
              <a:t>Logout</a:t>
            </a:r>
            <a:endParaRPr lang="en-US" altLang="en-GB" sz="2400" dirty="0"/>
          </a:p>
          <a:p>
            <a:r>
              <a:rPr lang="en-US" altLang="en-GB" sz="2400" dirty="0"/>
              <a:t>Redirect to Welcome Page</a:t>
            </a:r>
            <a:endParaRPr lang="en-US" altLang="en-GB" sz="2400" dirty="0"/>
          </a:p>
          <a:p>
            <a:r>
              <a:rPr lang="en-US" altLang="en-GB" sz="2400" dirty="0" smtClean="0"/>
              <a:t>End</a:t>
            </a:r>
            <a:endParaRPr lang="en-US" altLang="en-GB"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sz="4000" b="1" dirty="0">
                <a:solidFill>
                  <a:schemeClr val="tx2">
                    <a:lumMod val="60000"/>
                    <a:lumOff val="40000"/>
                  </a:schemeClr>
                </a:solidFill>
              </a:rPr>
              <a:t>Project Implementation</a:t>
            </a:r>
            <a:endParaRPr lang="en-GB" altLang="en-US" sz="4000" dirty="0">
              <a:solidFill>
                <a:schemeClr val="tx2">
                  <a:lumMod val="60000"/>
                  <a:lumOff val="40000"/>
                </a:schemeClr>
              </a:solidFill>
            </a:endParaRPr>
          </a:p>
        </p:txBody>
      </p:sp>
      <p:pic>
        <p:nvPicPr>
          <p:cNvPr id="4" name="Content Placeholder 3" descr="Screenshot (252)"/>
          <p:cNvPicPr>
            <a:picLocks noGrp="1" noChangeAspect="1"/>
          </p:cNvPicPr>
          <p:nvPr>
            <p:ph sz="quarter" idx="1"/>
          </p:nvPr>
        </p:nvPicPr>
        <p:blipFill>
          <a:blip r:embed="rId1"/>
          <a:stretch>
            <a:fillRect/>
          </a:stretch>
        </p:blipFill>
        <p:spPr>
          <a:xfrm>
            <a:off x="693208" y="1600200"/>
            <a:ext cx="7992533" cy="449580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sz="4000" b="1" dirty="0">
                <a:solidFill>
                  <a:schemeClr val="tx2">
                    <a:lumMod val="60000"/>
                    <a:lumOff val="40000"/>
                  </a:schemeClr>
                </a:solidFill>
              </a:rPr>
              <a:t>Project Implementation</a:t>
            </a:r>
            <a:endParaRPr lang="en-GB" altLang="en-US" sz="4000" dirty="0">
              <a:solidFill>
                <a:schemeClr val="tx2">
                  <a:lumMod val="60000"/>
                  <a:lumOff val="40000"/>
                </a:schemeClr>
              </a:solidFill>
            </a:endParaRPr>
          </a:p>
        </p:txBody>
      </p:sp>
      <p:pic>
        <p:nvPicPr>
          <p:cNvPr id="4" name="Content Placeholder 3" descr="Screenshot (253)"/>
          <p:cNvPicPr>
            <a:picLocks noGrp="1" noChangeAspect="1"/>
          </p:cNvPicPr>
          <p:nvPr>
            <p:ph sz="quarter" idx="1"/>
          </p:nvPr>
        </p:nvPicPr>
        <p:blipFill>
          <a:blip r:embed="rId1"/>
          <a:stretch>
            <a:fillRect/>
          </a:stretch>
        </p:blipFill>
        <p:spPr>
          <a:xfrm>
            <a:off x="693208" y="1600200"/>
            <a:ext cx="7992533" cy="449580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sz="4000" b="1" dirty="0">
                <a:solidFill>
                  <a:schemeClr val="tx2">
                    <a:lumMod val="60000"/>
                    <a:lumOff val="40000"/>
                  </a:schemeClr>
                </a:solidFill>
              </a:rPr>
              <a:t>Project Implementation</a:t>
            </a:r>
            <a:endParaRPr lang="en-GB" altLang="en-US" sz="4000" dirty="0">
              <a:solidFill>
                <a:schemeClr val="tx2">
                  <a:lumMod val="60000"/>
                  <a:lumOff val="40000"/>
                </a:schemeClr>
              </a:solidFill>
            </a:endParaRPr>
          </a:p>
        </p:txBody>
      </p:sp>
      <p:pic>
        <p:nvPicPr>
          <p:cNvPr id="4" name="Content Placeholder 3" descr="Screenshot (254)"/>
          <p:cNvPicPr>
            <a:picLocks noGrp="1" noChangeAspect="1"/>
          </p:cNvPicPr>
          <p:nvPr>
            <p:ph sz="quarter" idx="1"/>
          </p:nvPr>
        </p:nvPicPr>
        <p:blipFill>
          <a:blip r:embed="rId1"/>
          <a:stretch>
            <a:fillRect/>
          </a:stretch>
        </p:blipFill>
        <p:spPr>
          <a:xfrm>
            <a:off x="693208" y="1600200"/>
            <a:ext cx="7992533" cy="449580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sz="4000" b="1" dirty="0">
                <a:solidFill>
                  <a:schemeClr val="tx2">
                    <a:lumMod val="60000"/>
                    <a:lumOff val="40000"/>
                  </a:schemeClr>
                </a:solidFill>
              </a:rPr>
              <a:t>Project Implementation</a:t>
            </a:r>
            <a:endParaRPr lang="en-GB" altLang="en-US" sz="4000" dirty="0">
              <a:solidFill>
                <a:schemeClr val="tx2">
                  <a:lumMod val="60000"/>
                  <a:lumOff val="40000"/>
                </a:schemeClr>
              </a:solidFill>
            </a:endParaRPr>
          </a:p>
        </p:txBody>
      </p:sp>
      <p:pic>
        <p:nvPicPr>
          <p:cNvPr id="6" name="Content Placeholder 5" descr="Screenshot (255)"/>
          <p:cNvPicPr>
            <a:picLocks noGrp="1" noChangeAspect="1"/>
          </p:cNvPicPr>
          <p:nvPr>
            <p:ph sz="quarter" idx="1"/>
          </p:nvPr>
        </p:nvPicPr>
        <p:blipFill>
          <a:blip r:embed="rId1"/>
          <a:stretch>
            <a:fillRect/>
          </a:stretch>
        </p:blipFill>
        <p:spPr>
          <a:xfrm>
            <a:off x="693208" y="1600200"/>
            <a:ext cx="7992533" cy="449580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sz="4000" b="1" dirty="0" smtClean="0">
                <a:solidFill>
                  <a:schemeClr val="tx2">
                    <a:lumMod val="60000"/>
                    <a:lumOff val="40000"/>
                  </a:schemeClr>
                </a:solidFill>
              </a:rPr>
              <a:t>Project implementation</a:t>
            </a:r>
            <a:endParaRPr lang="en-GB" altLang="en-US" sz="4000" dirty="0">
              <a:solidFill>
                <a:schemeClr val="tx2">
                  <a:lumMod val="60000"/>
                  <a:lumOff val="40000"/>
                </a:schemeClr>
              </a:solidFill>
            </a:endParaRPr>
          </a:p>
        </p:txBody>
      </p:sp>
      <p:pic>
        <p:nvPicPr>
          <p:cNvPr id="4" name="Content Placeholder 3" descr="Screenshot (256)"/>
          <p:cNvPicPr>
            <a:picLocks noGrp="1" noChangeAspect="1"/>
          </p:cNvPicPr>
          <p:nvPr>
            <p:ph sz="quarter" idx="1"/>
          </p:nvPr>
        </p:nvPicPr>
        <p:blipFill>
          <a:blip r:embed="rId1"/>
          <a:stretch>
            <a:fillRect/>
          </a:stretch>
        </p:blipFill>
        <p:spPr>
          <a:xfrm>
            <a:off x="693208" y="1600200"/>
            <a:ext cx="7992533" cy="449580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sz="4000" b="1" dirty="0">
                <a:solidFill>
                  <a:schemeClr val="tx2">
                    <a:lumMod val="60000"/>
                    <a:lumOff val="40000"/>
                  </a:schemeClr>
                </a:solidFill>
              </a:rPr>
              <a:t>Project Implementation</a:t>
            </a:r>
            <a:endParaRPr lang="en-GB" altLang="en-US" sz="4000" dirty="0">
              <a:solidFill>
                <a:schemeClr val="tx2">
                  <a:lumMod val="60000"/>
                  <a:lumOff val="40000"/>
                </a:schemeClr>
              </a:solidFill>
            </a:endParaRPr>
          </a:p>
        </p:txBody>
      </p:sp>
      <p:pic>
        <p:nvPicPr>
          <p:cNvPr id="4" name="Content Placeholder 3" descr="Screenshot 2025-03-21 105045"/>
          <p:cNvPicPr>
            <a:picLocks noGrp="1" noChangeAspect="1"/>
          </p:cNvPicPr>
          <p:nvPr>
            <p:ph sz="quarter" idx="1"/>
          </p:nvPr>
        </p:nvPicPr>
        <p:blipFill>
          <a:blip r:embed="rId1"/>
          <a:stretch>
            <a:fillRect/>
          </a:stretch>
        </p:blipFill>
        <p:spPr>
          <a:xfrm>
            <a:off x="693208" y="1600200"/>
            <a:ext cx="7992533" cy="449580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sz="4000" b="1" dirty="0">
                <a:solidFill>
                  <a:schemeClr val="tx2">
                    <a:lumMod val="60000"/>
                    <a:lumOff val="40000"/>
                  </a:schemeClr>
                </a:solidFill>
              </a:rPr>
              <a:t>Project Implementation</a:t>
            </a:r>
            <a:endParaRPr lang="en-GB" altLang="en-US" sz="4000" dirty="0">
              <a:solidFill>
                <a:schemeClr val="tx2">
                  <a:lumMod val="60000"/>
                  <a:lumOff val="40000"/>
                </a:schemeClr>
              </a:solidFill>
            </a:endParaRPr>
          </a:p>
        </p:txBody>
      </p:sp>
      <p:pic>
        <p:nvPicPr>
          <p:cNvPr id="4" name="Content Placeholder 3" descr="Screenshot 2025-03-21 105121"/>
          <p:cNvPicPr>
            <a:picLocks noGrp="1" noChangeAspect="1"/>
          </p:cNvPicPr>
          <p:nvPr>
            <p:ph sz="quarter" idx="1"/>
          </p:nvPr>
        </p:nvPicPr>
        <p:blipFill>
          <a:blip r:embed="rId1"/>
          <a:stretch>
            <a:fillRect/>
          </a:stretch>
        </p:blipFill>
        <p:spPr>
          <a:xfrm>
            <a:off x="693208" y="1600200"/>
            <a:ext cx="7992533" cy="449580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sz="4000" b="1" dirty="0">
                <a:solidFill>
                  <a:schemeClr val="tx2">
                    <a:lumMod val="60000"/>
                    <a:lumOff val="40000"/>
                  </a:schemeClr>
                </a:solidFill>
              </a:rPr>
              <a:t>Project Implementation</a:t>
            </a:r>
            <a:endParaRPr lang="en-GB" altLang="en-US" sz="4000" dirty="0">
              <a:solidFill>
                <a:schemeClr val="tx2">
                  <a:lumMod val="60000"/>
                  <a:lumOff val="40000"/>
                </a:schemeClr>
              </a:solidFill>
            </a:endParaRPr>
          </a:p>
        </p:txBody>
      </p:sp>
      <p:pic>
        <p:nvPicPr>
          <p:cNvPr id="4" name="Content Placeholder 3" descr="Screenshot 2025-03-21 105142"/>
          <p:cNvPicPr>
            <a:picLocks noGrp="1" noChangeAspect="1"/>
          </p:cNvPicPr>
          <p:nvPr>
            <p:ph sz="quarter" idx="1"/>
          </p:nvPr>
        </p:nvPicPr>
        <p:blipFill>
          <a:blip r:embed="rId1"/>
          <a:stretch>
            <a:fillRect/>
          </a:stretch>
        </p:blipFill>
        <p:spPr>
          <a:xfrm>
            <a:off x="693208" y="1600200"/>
            <a:ext cx="7992533" cy="449580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sz="4000" b="1" dirty="0">
                <a:solidFill>
                  <a:schemeClr val="tx2">
                    <a:lumMod val="60000"/>
                    <a:lumOff val="40000"/>
                  </a:schemeClr>
                </a:solidFill>
              </a:rPr>
              <a:t>Project Implementation</a:t>
            </a:r>
            <a:endParaRPr lang="en-GB" altLang="en-US" sz="4000" dirty="0">
              <a:solidFill>
                <a:schemeClr val="tx2">
                  <a:lumMod val="60000"/>
                  <a:lumOff val="40000"/>
                </a:schemeClr>
              </a:solidFill>
            </a:endParaRPr>
          </a:p>
        </p:txBody>
      </p:sp>
      <p:pic>
        <p:nvPicPr>
          <p:cNvPr id="4" name="Content Placeholder 3" descr="Screenshot 2025-03-21 105217"/>
          <p:cNvPicPr>
            <a:picLocks noGrp="1" noChangeAspect="1"/>
          </p:cNvPicPr>
          <p:nvPr>
            <p:ph sz="quarter" idx="1"/>
          </p:nvPr>
        </p:nvPicPr>
        <p:blipFill>
          <a:blip r:embed="rId1"/>
          <a:stretch>
            <a:fillRect/>
          </a:stretch>
        </p:blipFill>
        <p:spPr>
          <a:xfrm>
            <a:off x="612775" y="1671221"/>
            <a:ext cx="8153400" cy="4353757"/>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b="1" dirty="0">
                <a:solidFill>
                  <a:schemeClr val="tx2">
                    <a:lumMod val="60000"/>
                    <a:lumOff val="40000"/>
                  </a:schemeClr>
                </a:solidFill>
              </a:rPr>
              <a:t>Future Enhancements</a:t>
            </a:r>
            <a:endParaRPr sz="4000" b="1" dirty="0">
              <a:solidFill>
                <a:schemeClr val="tx2">
                  <a:lumMod val="60000"/>
                  <a:lumOff val="40000"/>
                </a:schemeClr>
              </a:solidFill>
            </a:endParaRPr>
          </a:p>
        </p:txBody>
      </p:sp>
      <p:sp>
        <p:nvSpPr>
          <p:cNvPr id="3" name="Content Placeholder 2"/>
          <p:cNvSpPr>
            <a:spLocks noGrp="1"/>
          </p:cNvSpPr>
          <p:nvPr>
            <p:ph sz="quarter" idx="1"/>
          </p:nvPr>
        </p:nvSpPr>
        <p:spPr>
          <a:xfrm>
            <a:off x="457200" y="1955800"/>
            <a:ext cx="8229600" cy="4525963"/>
          </a:xfrm>
        </p:spPr>
        <p:txBody>
          <a:bodyPr/>
          <a:lstStyle/>
          <a:p>
            <a:r>
              <a:rPr dirty="0" smtClean="0"/>
              <a:t>AI-based </a:t>
            </a:r>
            <a:r>
              <a:rPr dirty="0"/>
              <a:t>demand forecasting</a:t>
            </a:r>
            <a:endParaRPr dirty="0"/>
          </a:p>
          <a:p>
            <a:r>
              <a:rPr lang="en-US" dirty="0" smtClean="0"/>
              <a:t>Security </a:t>
            </a:r>
            <a:r>
              <a:rPr lang="en-US" dirty="0"/>
              <a:t>development </a:t>
            </a:r>
            <a:endParaRPr dirty="0"/>
          </a:p>
          <a:p>
            <a:r>
              <a:rPr dirty="0" smtClean="0"/>
              <a:t>Multi-user </a:t>
            </a:r>
            <a:r>
              <a:rPr dirty="0"/>
              <a:t>access with different roles</a:t>
            </a:r>
            <a:endParaRPr dirty="0"/>
          </a:p>
          <a:p>
            <a:r>
              <a:rPr dirty="0" smtClean="0"/>
              <a:t>Cloud-based </a:t>
            </a:r>
            <a:r>
              <a:rPr dirty="0"/>
              <a:t>data</a:t>
            </a:r>
            <a:r>
              <a:rPr lang="en-US" dirty="0"/>
              <a:t> s</a:t>
            </a:r>
            <a:r>
              <a:rPr dirty="0"/>
              <a:t>torage</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b="1" dirty="0">
                <a:solidFill>
                  <a:schemeClr val="tx1"/>
                </a:solidFill>
              </a:rPr>
              <a:t>ER Diagram</a:t>
            </a:r>
            <a:endParaRPr sz="4000" b="1" dirty="0">
              <a:solidFill>
                <a:schemeClr val="tx1"/>
              </a:solidFill>
            </a:endParaRPr>
          </a:p>
        </p:txBody>
      </p:sp>
      <p:pic>
        <p:nvPicPr>
          <p:cNvPr id="4" name="Content Placeholder 3" descr="WhatsApp Image 2025-03-21 at 2.30.46 PM"/>
          <p:cNvPicPr>
            <a:picLocks noChangeAspect="1"/>
          </p:cNvPicPr>
          <p:nvPr>
            <p:ph sz="quarter" idx="1"/>
          </p:nvPr>
        </p:nvPicPr>
        <p:blipFill>
          <a:blip r:embed="rId1"/>
          <a:stretch>
            <a:fillRect/>
          </a:stretch>
        </p:blipFill>
        <p:spPr>
          <a:xfrm>
            <a:off x="612775" y="2224405"/>
            <a:ext cx="8153400" cy="324612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sz="4000" b="1" dirty="0">
                <a:solidFill>
                  <a:schemeClr val="tx1"/>
                </a:solidFill>
              </a:rPr>
              <a:t>Activity Diagram</a:t>
            </a:r>
            <a:endParaRPr lang="en-GB" altLang="en-US" sz="4000" dirty="0">
              <a:solidFill>
                <a:schemeClr val="tx1"/>
              </a:solidFill>
            </a:endParaRPr>
          </a:p>
        </p:txBody>
      </p:sp>
      <p:pic>
        <p:nvPicPr>
          <p:cNvPr id="6" name="Content Placeholder 5" descr="Screenshot (251)"/>
          <p:cNvPicPr>
            <a:picLocks noGrp="1" noChangeAspect="1"/>
          </p:cNvPicPr>
          <p:nvPr>
            <p:ph sz="quarter" idx="1"/>
          </p:nvPr>
        </p:nvPicPr>
        <p:blipFill>
          <a:blip r:embed="rId1"/>
          <a:stretch>
            <a:fillRect/>
          </a:stretch>
        </p:blipFill>
        <p:spPr>
          <a:xfrm>
            <a:off x="1127761" y="1828800"/>
            <a:ext cx="5323840" cy="468376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20181"/>
            <a:ext cx="8229600" cy="1143000"/>
          </a:xfrm>
        </p:spPr>
        <p:txBody>
          <a:bodyPr>
            <a:noAutofit/>
          </a:bodyPr>
          <a:lstStyle/>
          <a:p>
            <a:r>
              <a:rPr sz="7200" b="1" dirty="0">
                <a:solidFill>
                  <a:schemeClr val="tx2">
                    <a:lumMod val="60000"/>
                    <a:lumOff val="40000"/>
                  </a:schemeClr>
                </a:solidFill>
              </a:rPr>
              <a:t>Thank You</a:t>
            </a:r>
            <a:endParaRPr sz="7200" b="1" dirty="0">
              <a:solidFill>
                <a:schemeClr val="tx2">
                  <a:lumMod val="60000"/>
                  <a:lumOff val="40000"/>
                </a:schemeClr>
              </a:solidFill>
            </a:endParaRP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Median</Template>
  <TotalTime>0</TotalTime>
  <Words>3482</Words>
  <Application>WPS Presentation</Application>
  <PresentationFormat>On-screen Show (4:3)</PresentationFormat>
  <Paragraphs>149</Paragraphs>
  <Slides>25</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25</vt:i4>
      </vt:variant>
    </vt:vector>
  </HeadingPairs>
  <TitlesOfParts>
    <vt:vector size="35" baseType="lpstr">
      <vt:lpstr>Arial</vt:lpstr>
      <vt:lpstr>SimSun</vt:lpstr>
      <vt:lpstr>Wingdings</vt:lpstr>
      <vt:lpstr>Wingdings</vt:lpstr>
      <vt:lpstr>Wingdings 2</vt:lpstr>
      <vt:lpstr>Tw Cen MT</vt:lpstr>
      <vt:lpstr>Microsoft YaHei</vt:lpstr>
      <vt:lpstr>Arial Unicode MS</vt:lpstr>
      <vt:lpstr>Calibri</vt:lpstr>
      <vt:lpstr>Median</vt:lpstr>
      <vt:lpstr>Product Inventory Management System</vt:lpstr>
      <vt:lpstr>Group Members</vt:lpstr>
      <vt:lpstr>Table of Contents</vt:lpstr>
      <vt:lpstr>Introduction</vt:lpstr>
      <vt:lpstr>Objective</vt:lpstr>
      <vt:lpstr>Key Features</vt:lpstr>
      <vt:lpstr>Technology Stack</vt:lpstr>
      <vt:lpstr>Components Details</vt:lpstr>
      <vt:lpstr>Components Details</vt:lpstr>
      <vt:lpstr>Work Flow-STAGE 1</vt:lpstr>
      <vt:lpstr>Work Flow - STAGE 2</vt:lpstr>
      <vt:lpstr>Work Flow - STAGE 3</vt:lpstr>
      <vt:lpstr>Project Implementation</vt:lpstr>
      <vt:lpstr>Project Implementation</vt:lpstr>
      <vt:lpstr>Project Implementation</vt:lpstr>
      <vt:lpstr>Project Implementation</vt:lpstr>
      <vt:lpstr>Project implementation</vt:lpstr>
      <vt:lpstr>Project Implementation</vt:lpstr>
      <vt:lpstr>Project Implementation</vt:lpstr>
      <vt:lpstr>Project Implementation</vt:lpstr>
      <vt:lpstr>Project Implementation</vt:lpstr>
      <vt:lpstr>Future Enhancements</vt:lpstr>
      <vt:lpstr>ER Diagram</vt:lpstr>
      <vt:lpstr>Activity Diagram</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 Inventory Management System</dc:title>
  <dc:creator>DELL</dc:creator>
  <dc:description>generated using python-pptx</dc:description>
  <cp:lastModifiedBy>Yuvan_New</cp:lastModifiedBy>
  <cp:revision>21</cp:revision>
  <dcterms:created xsi:type="dcterms:W3CDTF">2013-01-27T09:14:00Z</dcterms:created>
  <dcterms:modified xsi:type="dcterms:W3CDTF">2025-03-21T09:25:47Z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F97C07671C1D45C282FCD83411254D62_12</vt:lpwstr>
  </property>
  <property fmtid="{D5CDD505-2E9C-101B-9397-08002B2CF9AE}" pid="3" name="KSOProductBuildVer">
    <vt:lpwstr>2057-12.2.0.20326</vt:lpwstr>
  </property>
</Properties>
</file>